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6576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A572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6858000" y="3657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di Roma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 Vergata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5A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di Web Mapping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7772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A.A. [XXXX/YY]  ·  Prof. M. Angelaccio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Passeggiate Romane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[TITOLO DEL PROGETTO]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[Sottotitolo — una frase che racconta il concept]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474720"/>
            <a:ext cx="2286000" cy="0"/>
          </a:xfrm>
          <a:prstGeom prst="line">
            <a:avLst/>
          </a:prstGeom>
          <a:noFill/>
          <a:ln w="19050">
            <a:solidFill>
              <a:srgbClr val="C5A5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61188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Studente: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[Cognome Nome]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Matricola: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[nnnnnnn]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istituzionale: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[nome.cognome@students.uniroma2.eu]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Personaggio: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Personaggio]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Categoria: </a:t>
            </a:r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[Architetti / Cinema / Letterati / Musicisti / Artisti figurativi]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5A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554480" y="3200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82880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A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2801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personaggio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A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6916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questo personaggio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A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1031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della passeggiata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A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514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percorso sulla mappa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926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A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9260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tappe (panoramica)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337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A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33375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Approfondimento di una tappa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749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A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7490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software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1280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A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57800" y="12801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dati (data.json)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16916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A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57800" y="16916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Interfaccia utente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2103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A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57800" y="21031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Elementi di originalità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2514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A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57800" y="2514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Fonti e bibliografia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54880" y="2926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A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57800" y="29260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 e sviluppi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54880" y="3337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A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57800" y="33375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al progetto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5A57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Passeggiate Romane</a:t>
            </a:r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[NOME STUDENTE] · A.A. [XXXX/YY]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4672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5A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554480" y="3200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personaggio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82880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2926080" cy="2743200"/>
          </a:xfrm>
          <a:prstGeom prst="rect">
            <a:avLst/>
          </a:prstGeom>
          <a:solidFill>
            <a:srgbClr val="E7E8D1"/>
          </a:solidFill>
          <a:ln w="12700">
            <a:solidFill>
              <a:srgbClr val="C5A57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2514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[inserire immagine]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0416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Ritratto / foto del personaggio — fonte: [...]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0" y="1280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[NOME COMPLETO]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[Anni — es. 1821-1891]  ·  [Professione]  ·  [Nazionalità]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2148840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[Biografia in 80–120 parole: chi era, quando e perché fu a Roma, qual è l'opera o il contributo principale per cui lo ricordiamo. Evitare la copia da Wikipedia — riformulare con parole proprie citando le fonti in fondo alla presentazione.]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0" y="3520440"/>
            <a:ext cx="2286000" cy="3200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CATEGORIA: [...]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39319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Opere principali correlate al percorso: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41605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[Opera 1 — anno]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[Opera 2 — anno]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[Opera 3 — anno]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5A5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Passeggiate Romane</a:t>
            </a:r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[NOME STUDENTE] · A.A. [XXXX/YY]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4672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5A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554480" y="3200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Perché questo personaggio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82880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[150-200 parole: racconta la motivazione della scelta. Cosa lega questo personaggio a Roma in modo irriducibile? Quale aspetto della città si può leggere solo attraverso i suoi occhi? Quali tappe del percorso escono naturalmente dalla sua biografia o dalla sua opera?]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0" y="1280160"/>
            <a:ext cx="3383280" cy="2560320"/>
          </a:xfrm>
          <a:prstGeom prst="rect">
            <a:avLst/>
          </a:prstGeom>
          <a:solidFill>
            <a:srgbClr val="E7E8D1"/>
          </a:solidFill>
          <a:ln w="12700">
            <a:solidFill>
              <a:srgbClr val="C5A5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0" y="1417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Chiave di lettura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frase che riassume l'angolo di sguardo del personaggio su Roma: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0" y="21945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“[Una frase di max 140 caratteri che catturi il concept]”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5A5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Passeggiate Romane</a:t>
            </a:r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[NOME STUDENTE] · A.A. [XXXX/YY]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4672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5A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554480" y="3200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 della passeggiata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82880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73152" cy="10058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5A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[X ore]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1892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[Dalle HH:MM alle HH:MM]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234440"/>
            <a:ext cx="73152" cy="10058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307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5A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DISTANZA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[X km]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46320" y="1892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 piedi / con mezzi pubblici]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423160"/>
            <a:ext cx="73152" cy="10058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496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5A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 TAPPE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[N]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0080" y="3081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[Ordinate da alba a tramonto / da mattino a sera]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42316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2423160"/>
            <a:ext cx="73152" cy="10058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4963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5A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STAGIONE CONSIGLIATA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[Primavera/Autunno]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846320" y="3081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[Motivazione breve]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[Descrizione in 60-80 parole del concept narrativo: qual è il filo rosso che lega le tappe? Come si evolve l'esperienza nel corso della giornata?]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5A5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Passeggiate Romane</a:t>
            </a:r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[NOME STUDENTE] · A.A. [XXXX/YY]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4672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5A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554480" y="3200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percorso sulla mappa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82880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5943600" cy="3291840"/>
          </a:xfrm>
          <a:prstGeom prst="rect">
            <a:avLst/>
          </a:prstGeom>
          <a:solidFill>
            <a:srgbClr val="E7E8D1"/>
          </a:solidFill>
          <a:ln w="12700">
            <a:solidFill>
              <a:srgbClr val="C5A57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27432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[inserire immagine]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5445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Leaflet con marker e polyline del percorso — catturato dalla propria web app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675120" y="1234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Legenda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0" y="155448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Tappa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C5A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Polyline del percorso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Partenza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0" y="31089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Tile-layer usato: [OpenStreetMap / CartoDB Light / ...]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iniziale: [lat, lon]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iniziale: [X]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5A5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Passeggiate Romane</a:t>
            </a:r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[NOME STUDENTE] · A.A. [XXXX/YY]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4672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5A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554480" y="3200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tappe (panoramica)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82880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554480"/>
                <a:gridCol w="822960"/>
                <a:gridCol w="1554480"/>
                <a:gridCol w="1463040"/>
                <a:gridCol w="24688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Emozione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Collegamento al personaggio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5A5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[Nome tappa]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[HH:MM]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[alba / mattino / ...]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[parola-chiave]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 frase]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5A5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[Nome tappa]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[HH:MM]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[alba / mattino / ...]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[parola-chiave]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 frase]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5A5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[Nome tappa]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[HH:MM]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[alba / mattino / ...]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[parola-chiave]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 frase]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5A5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[Nome tappa]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[HH:MM]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[alba / mattino / ...]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[parola-chiave]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 frase]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5A5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[Nome tappa]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[HH:MM]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[alba / mattino / ...]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[parola-chiave]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 frase]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8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inserire solo le tappe effettivamente presenti nel data.json. Se il progetto ha meno di 5 tappe, eliminare le righe in eccesso; se ne ha di più, aggiungere le righe necessarie.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5A57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Passeggiate Romane</a:t>
            </a:r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[NOME STUDENTE] · A.A. [XXXX/YY]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4672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5A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554480" y="3200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Approfondimento di una tappa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82880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[NOME DELLA TAPPA SCELTA]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931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Musica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057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[Brano — Compositore]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377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[Perché questo brano per questa tappa]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600200"/>
            <a:ext cx="3931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4924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Letteratura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49240" y="2057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[Citazione breve + autore]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2377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[Contesto della citazione]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3931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🌅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3000" y="3246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Atmosfera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[luce · suoni · emozione]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3886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[Cosa si vede/sente/prova qui]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3108960"/>
            <a:ext cx="3931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49240" y="3246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Arte / Architettura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49240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[Stile · Autore · Anno]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3886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[Dettaglio storico-artistico]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5A5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Passeggiate Romane</a:t>
            </a:r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[NOME STUDENTE] · A.A. [XXXX/YY]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4672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5A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554480" y="3200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Architettura software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82880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tecnologico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[Leaflet 1.9.4 / Google Maps / ...]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layer: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[OpenStreetMap / CartoDB / ...]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dati: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(data.json)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[Georgia / EB Garamond / ...]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Icone: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[FontAwesome / emoji / SVG custom]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Librerie extra: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[elencare se presenti, es. lightbox, audio]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4632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Flusso di caricamento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1645920"/>
            <a:ext cx="3840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A5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6459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0" y="20299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A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2176272"/>
            <a:ext cx="3840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A5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1762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fetch('data.json')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256032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A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2706624"/>
            <a:ext cx="3840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A5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70662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itinerario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3090672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A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3236976"/>
            <a:ext cx="3840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A5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23697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mappa + tappe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3621024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A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3767328"/>
            <a:ext cx="3840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5A5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7673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interazione utente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5A5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Passeggiate Romane</a:t>
            </a:r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[NOME STUDENTE] · A.A. [XXXX/YY]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4672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5A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554480" y="3200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 dati (data.json)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82880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8229600" cy="3017520"/>
          </a:xfrm>
          <a:prstGeom prst="rect">
            <a:avLst/>
          </a:prstGeom>
          <a:solidFill>
            <a:srgbClr val="F4F1E8"/>
          </a:solidFill>
          <a:ln w="12700">
            <a:solidFill>
              <a:srgbClr val="C5A5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2588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itinerari: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id, nome, sottotitolo,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personaggio: { nome, anni, professione, nazionalita, biografia_breve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tema, categoria, durata_totale_ore, distanza_totale_km, difficolta,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tappe: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numero, nome, coordinate: [lat, lon],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orario_consigliato, momento_giornata, durata_visita_min,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descrizione_breve,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esperienza_culturale: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musica, letteratura, atmosfera, arte_visiva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storia, curiosita, metadata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Sostituire lo schema sopra con la STRUTTURA EFFETTIVA del proprio data.json. Se è stato modificato rispetto al template Angelaccio (campi aggiunti, rimossi, rinominati), evidenziare le differenze e motivarle.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5A5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Passeggiate Romane</a:t>
            </a:r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[NOME STUDENTE] · A.A. [XXXX/YY]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5A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554480" y="3200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Interfaccia utente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82880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2651760" cy="2743200"/>
          </a:xfrm>
          <a:prstGeom prst="rect">
            <a:avLst/>
          </a:prstGeom>
          <a:solidFill>
            <a:srgbClr val="E7E8D1"/>
          </a:solidFill>
          <a:ln w="12700">
            <a:solidFill>
              <a:srgbClr val="C5A57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2468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[inserire immagine]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9959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/ selezione itinerario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46120" y="1234440"/>
            <a:ext cx="2651760" cy="2743200"/>
          </a:xfrm>
          <a:prstGeom prst="rect">
            <a:avLst/>
          </a:prstGeom>
          <a:solidFill>
            <a:srgbClr val="E7E8D1"/>
          </a:solidFill>
          <a:ln w="12700">
            <a:solidFill>
              <a:srgbClr val="C5A572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3246120" y="2468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[inserire immagine]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46120" y="39959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mappa + timeline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35040" y="1234440"/>
            <a:ext cx="2651760" cy="2743200"/>
          </a:xfrm>
          <a:prstGeom prst="rect">
            <a:avLst/>
          </a:prstGeom>
          <a:solidFill>
            <a:srgbClr val="E7E8D1"/>
          </a:solidFill>
          <a:ln w="12700">
            <a:solidFill>
              <a:srgbClr val="C5A572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035040" y="2468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[inserire immagine]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35040" y="39959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Dettaglio tappa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[2-3 righe: scelte grafiche principali (palette, tipografia, layout) e loro motivazione in rapporto al personaggio scelto]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5A5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Passeggiate Romane</a:t>
            </a:r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[NOME STUDENTE] · A.A. [XXXX/YY]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4672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5A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554480" y="3200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Elementi di originalità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82880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Esperienza tra le tappe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6916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[es. sfida / quiz / audio guida / foto-task: cosa fa l'utente mentre cammina]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280160" y="24231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Scelte editoriali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7432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[es. citazioni del personaggio stesso, playlist d'epoca, tipografia storica]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280160" y="34747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Estensione del template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37947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[es. gamification, state machine, narrazione multi-tono, mappe storiche]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5A5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Passeggiate Romane</a:t>
            </a:r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[NOME STUDENTE] · A.A. [XXXX/YY]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4672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5A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554480" y="3200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Fonti e bibliografia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82880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Fonti primarie e letterarie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3931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[Autore, Titolo opera, Editore, Anno]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[...]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[...]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Fonti multimediali e online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645920"/>
            <a:ext cx="3931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[Brano musicale — Spotify/YouTube con URL]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[Immagini storiche — archivio + licenza]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[Siti istituzionali — musei, sovrintendenze]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[Altri URL consultati]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dichiarare la licenza d'uso delle immagini (Creative Commons, pubblico dominio, proprie). Segnalare in modo esplicito se si è fatto uso di strumenti di IA generativa per i testi o le immagini e in quale misura.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5A5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6460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Passeggiate Romane</a:t>
            </a:r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[NOME STUDENTE] · A.A. [XXXX/YY]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46720" y="486460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Conclusioni e accesso al progetto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28800" cy="0"/>
          </a:xfrm>
          <a:prstGeom prst="line">
            <a:avLst/>
          </a:prstGeom>
          <a:noFill/>
          <a:ln w="25400">
            <a:solidFill>
              <a:srgbClr val="C5A5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A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Cosa porto con me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[80-100 parole: cosa è stato difficile, cosa è venuto bene, cosa rifaresti diversamente]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A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Sviluppi futuri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[3-4 estensioni possibili: geolocalizzazione in tempo reale, audio-guida registrata, multilingua, accessibilità WCAG]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371600"/>
            <a:ext cx="3200400" cy="32918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ACCEDI AL PROGETTO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0" y="1920240"/>
            <a:ext cx="914400" cy="0"/>
          </a:xfrm>
          <a:prstGeom prst="line">
            <a:avLst/>
          </a:prstGeom>
          <a:noFill/>
          <a:ln w="19050">
            <a:solidFill>
              <a:srgbClr val="C5A5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2103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 app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0" y="2331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A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[https://mangelaccio.github.io/progetti-studenti/studente-xxxxx/]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69280" y="2926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Repository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A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[https://github.com/xxxxx/xxxxx]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69280" y="3749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Contatto istituzionale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0" y="3977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A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[nome.cognome@students.uniroma2.eu]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5A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Grazie.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4E5718F44779E47A8004FF9255E1F9F" ma:contentTypeVersion="12" ma:contentTypeDescription="Creare un nuovo documento." ma:contentTypeScope="" ma:versionID="fd24f12b416ea4edd04e6aa55ffa6d1c">
  <xsd:schema xmlns:xsd="http://www.w3.org/2001/XMLSchema" xmlns:xs="http://www.w3.org/2001/XMLSchema" xmlns:p="http://schemas.microsoft.com/office/2006/metadata/properties" xmlns:ns2="b2a9557d-8874-4037-acf0-8bcdcedb5766" xmlns:ns3="4a99e5b9-c9b8-42bf-9d89-b7e48bcbbb33" targetNamespace="http://schemas.microsoft.com/office/2006/metadata/properties" ma:root="true" ma:fieldsID="28a22d3ee23b7bae23b8ad7513d342ba" ns2:_="" ns3:_="">
    <xsd:import namespace="b2a9557d-8874-4037-acf0-8bcdcedb5766"/>
    <xsd:import namespace="4a99e5b9-c9b8-42bf-9d89-b7e48bcbbb33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a9557d-8874-4037-acf0-8bcdcedb5766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Tag immagine" ma:readOnly="false" ma:fieldId="{5cf76f15-5ced-4ddc-b409-7134ff3c332f}" ma:taxonomyMulti="true" ma:sspId="1013fbc9-b00e-4d37-9f0b-4b76e146b3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99e5b9-c9b8-42bf-9d89-b7e48bcbbb33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1fabfcb7-2b62-42a2-b1fe-f8adeeba1d5e}" ma:internalName="TaxCatchAll" ma:showField="CatchAllData" ma:web="4a99e5b9-c9b8-42bf-9d89-b7e48bcbbb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b2a9557d-8874-4037-acf0-8bcdcedb5766" xsi:nil="true"/>
    <lcf76f155ced4ddcb4097134ff3c332f xmlns="b2a9557d-8874-4037-acf0-8bcdcedb5766">
      <Terms xmlns="http://schemas.microsoft.com/office/infopath/2007/PartnerControls"/>
    </lcf76f155ced4ddcb4097134ff3c332f>
    <TaxCatchAll xmlns="4a99e5b9-c9b8-42bf-9d89-b7e48bcbbb33" xsi:nil="true"/>
  </documentManagement>
</p:properties>
</file>

<file path=customXml/itemProps1.xml><?xml version="1.0" encoding="utf-8"?>
<ds:datastoreItem xmlns:ds="http://schemas.openxmlformats.org/officeDocument/2006/customXml" ds:itemID="{DBCA856A-AE6B-4AC0-88F2-E4D3A6191F1C}"/>
</file>

<file path=customXml/itemProps2.xml><?xml version="1.0" encoding="utf-8"?>
<ds:datastoreItem xmlns:ds="http://schemas.openxmlformats.org/officeDocument/2006/customXml" ds:itemID="{C3D979EC-7BEC-484B-9698-5B0FC8BC308F}"/>
</file>

<file path=customXml/itemProps3.xml><?xml version="1.0" encoding="utf-8"?>
<ds:datastoreItem xmlns:ds="http://schemas.openxmlformats.org/officeDocument/2006/customXml" ds:itemID="{30730E7C-FCDD-42CF-8186-81130E77A427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documentazione — Passeggiate Romane</dc:title>
  <dc:subject>Laboratorio di Web Mapping</dc:subject>
  <dc:creator>Università di Roma Tor Vergata</dc:creator>
  <cp:lastModifiedBy>Università di Roma Tor Vergata</cp:lastModifiedBy>
  <cp:revision>1</cp:revision>
  <dcterms:created xsi:type="dcterms:W3CDTF">2026-04-20T15:21:47Z</dcterms:created>
  <dcterms:modified xsi:type="dcterms:W3CDTF">2026-04-20T15:21:47Z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0x010100C4E5718F44779E47A8004FF9255E1F9F</vt:lpwstr>
  </property>
</Properties>
</file>